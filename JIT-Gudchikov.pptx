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9" d="100"/>
          <a:sy n="119" d="100"/>
        </p:scale>
        <p:origin x="418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80149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0"/>
            <a:ext cx="54864" cy="514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5029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Context-Sensitive</a:t>
            </a:r>
            <a:endParaRPr lang="en-US" sz="4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Profiling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65176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для OpenJDK HotSpot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33832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Проблема, аналоги и идея дипломного проекта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222169" y="3741313"/>
            <a:ext cx="2812361" cy="12878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ru-RU" sz="1600" dirty="0" err="1">
                <a:solidFill>
                  <a:schemeClr val="bg1"/>
                </a:solidFill>
              </a:rPr>
              <a:t>Гудчиков</a:t>
            </a:r>
            <a:r>
              <a:rPr lang="ru-RU" sz="1600" dirty="0">
                <a:solidFill>
                  <a:schemeClr val="bg1"/>
                </a:solidFill>
              </a:rPr>
              <a:t> Максим Павлович </a:t>
            </a:r>
            <a:br>
              <a:rPr lang="ru-RU" sz="1600" dirty="0">
                <a:solidFill>
                  <a:schemeClr val="bg1"/>
                </a:solidFill>
              </a:rPr>
            </a:br>
            <a:r>
              <a:rPr lang="ru-RU" sz="1600" dirty="0">
                <a:solidFill>
                  <a:schemeClr val="bg1"/>
                </a:solidFill>
              </a:rPr>
              <a:t>Б01-407</a:t>
            </a:r>
            <a:r>
              <a:rPr lang="ru-RU" sz="1600" dirty="0"/>
              <a:t/>
            </a:r>
            <a:br>
              <a:rPr lang="ru-RU" sz="1600" dirty="0"/>
            </a:br>
            <a:r>
              <a:rPr lang="ru-RU" sz="1400" dirty="0" err="1">
                <a:solidFill>
                  <a:schemeClr val="bg1">
                    <a:lumMod val="50000"/>
                  </a:schemeClr>
                </a:solidFill>
              </a:rPr>
              <a:t>тг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: @simka_10</a:t>
            </a:r>
            <a:br>
              <a:rPr lang="en-US" sz="14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sz="1400" dirty="0" err="1">
                <a:solidFill>
                  <a:schemeClr val="bg1">
                    <a:lumMod val="50000"/>
                  </a:schemeClr>
                </a:solidFill>
              </a:rPr>
              <a:t>github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: https://github.com/MaxGud10</a:t>
            </a:r>
            <a:endParaRPr lang="ru-RU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4694" y="394094"/>
            <a:ext cx="2635600" cy="2635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Как работает JIT в JVM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182880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371600"/>
            <a:ext cx="18288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1280160" y="1600200"/>
            <a:ext cx="548640" cy="5486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128016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22860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Интерпретатор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6974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Программа стартует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интерпретаторе</a:t>
            </a:r>
            <a:endParaRPr lang="en-US" sz="11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7168" y="2240280"/>
            <a:ext cx="201168" cy="20116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2697480" y="1371600"/>
            <a:ext cx="182880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697480" y="1371600"/>
            <a:ext cx="18288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1600200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3" name="Text 10"/>
          <p:cNvSpPr/>
          <p:nvPr/>
        </p:nvSpPr>
        <p:spPr>
          <a:xfrm>
            <a:off x="333756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2788920" y="22860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Профиль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2788920" y="26974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Собирается профиль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 время исполнения</a:t>
            </a:r>
            <a:endParaRPr lang="en-US" sz="11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4568" y="2240280"/>
            <a:ext cx="201168" cy="201168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4754880" y="1371600"/>
            <a:ext cx="182880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754880" y="1371600"/>
            <a:ext cx="18288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Shape 15"/>
          <p:cNvSpPr/>
          <p:nvPr/>
        </p:nvSpPr>
        <p:spPr>
          <a:xfrm>
            <a:off x="5394960" y="1600200"/>
            <a:ext cx="548640" cy="5486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0" name="Text 16"/>
          <p:cNvSpPr/>
          <p:nvPr/>
        </p:nvSpPr>
        <p:spPr>
          <a:xfrm>
            <a:off x="539496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7"/>
          <p:cNvSpPr/>
          <p:nvPr/>
        </p:nvSpPr>
        <p:spPr>
          <a:xfrm>
            <a:off x="4846320" y="22860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JIT-компиляция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4846320" y="26974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Горячий код передаётся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JIT-компилятору</a:t>
            </a:r>
            <a:endParaRPr lang="en-US" sz="110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1968" y="2240280"/>
            <a:ext cx="201168" cy="201168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6812280" y="1371600"/>
            <a:ext cx="182880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812280" y="1371600"/>
            <a:ext cx="1828800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6" name="Shape 21"/>
          <p:cNvSpPr/>
          <p:nvPr/>
        </p:nvSpPr>
        <p:spPr>
          <a:xfrm>
            <a:off x="7452360" y="1600200"/>
            <a:ext cx="548640" cy="54864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7" name="Text 22"/>
          <p:cNvSpPr/>
          <p:nvPr/>
        </p:nvSpPr>
        <p:spPr>
          <a:xfrm>
            <a:off x="745236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000" dirty="0"/>
          </a:p>
        </p:txBody>
      </p:sp>
      <p:sp>
        <p:nvSpPr>
          <p:cNvPr id="28" name="Text 23"/>
          <p:cNvSpPr/>
          <p:nvPr/>
        </p:nvSpPr>
        <p:spPr>
          <a:xfrm>
            <a:off x="6903720" y="22860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Оптимизации</a:t>
            </a:r>
            <a:endParaRPr lang="en-US" sz="1400" dirty="0"/>
          </a:p>
        </p:txBody>
      </p:sp>
      <p:sp>
        <p:nvSpPr>
          <p:cNvPr id="29" name="Text 24"/>
          <p:cNvSpPr/>
          <p:nvPr/>
        </p:nvSpPr>
        <p:spPr>
          <a:xfrm>
            <a:off x="6903720" y="26974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JIT делает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оптимизации кода</a:t>
            </a:r>
            <a:endParaRPr lang="en-US" sz="1100" dirty="0"/>
          </a:p>
        </p:txBody>
      </p:sp>
      <p:sp>
        <p:nvSpPr>
          <p:cNvPr id="30" name="Text 25"/>
          <p:cNvSpPr/>
          <p:nvPr/>
        </p:nvSpPr>
        <p:spPr>
          <a:xfrm>
            <a:off x="8503920" y="46634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Как это выглядит в HotSpot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3840480" cy="3291840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2801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Tiered Compilation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05840" y="1828800"/>
            <a:ext cx="3200400" cy="548640"/>
          </a:xfrm>
          <a:prstGeom prst="rect">
            <a:avLst/>
          </a:prstGeom>
          <a:solidFill>
            <a:srgbClr val="3B82F6">
              <a:alpha val="8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05840" y="1828800"/>
            <a:ext cx="54864" cy="5486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18288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Уровень 0 — Interpreter</a:t>
            </a:r>
            <a:endParaRPr lang="en-US" sz="13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880" y="2395728"/>
            <a:ext cx="164592" cy="16459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005840" y="2606040"/>
            <a:ext cx="3200400" cy="548640"/>
          </a:xfrm>
          <a:prstGeom prst="rect">
            <a:avLst/>
          </a:prstGeom>
          <a:solidFill>
            <a:srgbClr val="F59E0B">
              <a:alpha val="80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1005840" y="2606040"/>
            <a:ext cx="54864" cy="548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8"/>
          <p:cNvSpPr/>
          <p:nvPr/>
        </p:nvSpPr>
        <p:spPr>
          <a:xfrm>
            <a:off x="1188720" y="26060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Уровень 1–3 — C1 (Client)</a:t>
            </a:r>
            <a:endParaRPr lang="en-US" sz="13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880" y="3172968"/>
            <a:ext cx="164592" cy="164592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1005840" y="3383280"/>
            <a:ext cx="3200400" cy="548640"/>
          </a:xfrm>
          <a:prstGeom prst="rect">
            <a:avLst/>
          </a:prstGeom>
          <a:solidFill>
            <a:srgbClr val="10B981">
              <a:alpha val="80000"/>
            </a:srgbClr>
          </a:solidFill>
          <a:ln/>
        </p:spPr>
      </p:sp>
      <p:sp>
        <p:nvSpPr>
          <p:cNvPr id="14" name="Shape 10"/>
          <p:cNvSpPr/>
          <p:nvPr/>
        </p:nvSpPr>
        <p:spPr>
          <a:xfrm>
            <a:off x="1005840" y="3383280"/>
            <a:ext cx="54864" cy="5486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1"/>
          <p:cNvSpPr/>
          <p:nvPr/>
        </p:nvSpPr>
        <p:spPr>
          <a:xfrm>
            <a:off x="1188720" y="33832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Уровень 4 — C2 (Server)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4754880" y="1188720"/>
            <a:ext cx="3840480" cy="3291840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4937760" y="12801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Profiling Data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5029200" y="1874520"/>
            <a:ext cx="201168" cy="20116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9" name="Text 15"/>
          <p:cNvSpPr/>
          <p:nvPr/>
        </p:nvSpPr>
        <p:spPr>
          <a:xfrm>
            <a:off x="5349240" y="178308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Профиль собирается на уровне метода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5029200" y="2468880"/>
            <a:ext cx="201168" cy="20116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1" name="Text 17"/>
          <p:cNvSpPr/>
          <p:nvPr/>
        </p:nvSpPr>
        <p:spPr>
          <a:xfrm>
            <a:off x="5349240" y="237744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MethodData содержит статистику: типы, ветвления, счётчики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5029200" y="3063240"/>
            <a:ext cx="201168" cy="20116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3" name="Text 19"/>
          <p:cNvSpPr/>
          <p:nvPr/>
        </p:nvSpPr>
        <p:spPr>
          <a:xfrm>
            <a:off x="5349240" y="297180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Оптимизирующий компилятор (C2) использует профиль для решений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5029200" y="3657600"/>
            <a:ext cx="201168" cy="20116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5" name="Text 21"/>
          <p:cNvSpPr/>
          <p:nvPr/>
        </p:nvSpPr>
        <p:spPr>
          <a:xfrm>
            <a:off x="5349240" y="356616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Inlining, branch prediction, type speculation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8503920" y="46634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Ограничение текущего подхода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7863840" cy="1280160"/>
          </a:xfrm>
          <a:prstGeom prst="rect">
            <a:avLst/>
          </a:prstGeom>
          <a:solidFill>
            <a:srgbClr val="FEF2F2"/>
          </a:solidFill>
          <a:ln/>
          <a:effectLst>
            <a:outerShdw blurRad="508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188720"/>
            <a:ext cx="54864" cy="128016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5506" y="160020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49173" y="1280160"/>
            <a:ext cx="6675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 err="1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HotSpot</a:t>
            </a:r>
            <a:r>
              <a:rPr lang="en-US" sz="1600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600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собирает профиль исполнения </a:t>
            </a:r>
            <a:r>
              <a:rPr lang="en-US" sz="1600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per-method</a:t>
            </a:r>
            <a:r>
              <a:rPr lang="ru-RU" sz="1600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br>
              <a:rPr lang="ru-RU" sz="1600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ru-RU" sz="1600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один метод вызывается из разных </a:t>
            </a:r>
            <a:r>
              <a:rPr lang="en-US" sz="1600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call-site</a:t>
            </a:r>
            <a:r>
              <a:rPr lang="ru-RU" sz="1600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их поведение смешивается в один усредненный профиль и теряется контекст вызовов.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40080" y="2834640"/>
            <a:ext cx="246888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40080" y="2834640"/>
            <a:ext cx="246888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30175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Per-method сбор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22960" y="35661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общий профиль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весь метод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291840" y="2834640"/>
            <a:ext cx="246888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91840" y="2834640"/>
            <a:ext cx="246888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0"/>
          <p:cNvSpPr/>
          <p:nvPr/>
        </p:nvSpPr>
        <p:spPr>
          <a:xfrm>
            <a:off x="3474720" y="30175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Смешение данных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3474720" y="35661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Разные контексты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сливаются в один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943600" y="2834640"/>
            <a:ext cx="246888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943600" y="2834640"/>
            <a:ext cx="246888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Text 14"/>
          <p:cNvSpPr/>
          <p:nvPr/>
        </p:nvSpPr>
        <p:spPr>
          <a:xfrm>
            <a:off x="6126480" y="30175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Потеря контекста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126480" y="35661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Компилятор</a:t>
            </a:r>
            <a:r>
              <a:rPr lang="en-US" sz="1300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</a:t>
            </a:r>
            <a:r>
              <a:rPr lang="en-US" sz="1300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видит</a:t>
            </a:r>
            <a:r>
              <a:rPr lang="ru-RU" sz="1300" dirty="0"/>
              <a:t> </a:t>
            </a:r>
            <a:r>
              <a:rPr lang="ru-RU" sz="1300" dirty="0" smtClean="0">
                <a:solidFill>
                  <a:srgbClr val="94A3B8"/>
                </a:solidFill>
                <a:latin typeface="Calibri" pitchFamily="34" charset="0"/>
                <a:cs typeface="Calibri" pitchFamily="34" charset="-120"/>
              </a:rPr>
              <a:t>стабильное поведение в каждом контексте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8503920" y="46634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 err="1" smtClean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Пр</a:t>
            </a:r>
            <a:r>
              <a:rPr lang="ru-RU" sz="3000" b="1" dirty="0" err="1" smtClean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имер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4572000" cy="2743200"/>
          </a:xfrm>
          <a:prstGeom prst="rect">
            <a:avLst/>
          </a:prstGeom>
          <a:solidFill>
            <a:srgbClr val="0D1117"/>
          </a:solidFill>
          <a:ln/>
          <a:effectLst>
            <a:outerShdw blurRad="508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1430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" y="1417320"/>
            <a:ext cx="4206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foo(boolean cond, Map map)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(cond)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branch 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else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branch B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Call-site 1: cond = true  (100%)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callerA() → foo(true, mapA)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Call-site 2: cond = false (100%)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callerB() → foo(false, mapB)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0" y="1097280"/>
            <a:ext cx="3200400" cy="1371600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0" y="1097280"/>
            <a:ext cx="54864" cy="13716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0" y="11887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Итоговый профиль: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669280" y="15544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cond = true:  50%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cond = false: 50%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0" y="2743200"/>
            <a:ext cx="3200400" cy="1371600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0" y="2743200"/>
            <a:ext cx="54864" cy="13716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0" y="28346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Идеальный профиль: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669280" y="32004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site 1: cond=true  100%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site 2: cond=false 100%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42976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Компилятор видит 50/50 — не может агрессивно оптимизировать ни одну ветку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503920" y="46634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Почему это мешает оптимизациям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786384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188720"/>
            <a:ext cx="54864" cy="7315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325880"/>
            <a:ext cx="457200" cy="457200"/>
          </a:xfrm>
          <a:prstGeom prst="ellipse">
            <a:avLst/>
          </a:prstGeom>
          <a:solidFill>
            <a:srgbClr val="EF4444">
              <a:alpha val="85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1440180" y="1181637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Inlining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566160" y="118872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JIT не может выбрать оптимальную версию — инлайнит обе или ни одну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2103120"/>
            <a:ext cx="786384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0080" y="2103120"/>
            <a:ext cx="54864" cy="7315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Shape 8"/>
          <p:cNvSpPr/>
          <p:nvPr/>
        </p:nvSpPr>
        <p:spPr>
          <a:xfrm>
            <a:off x="868680" y="2240280"/>
            <a:ext cx="457200" cy="457200"/>
          </a:xfrm>
          <a:prstGeom prst="ellipse">
            <a:avLst/>
          </a:prstGeom>
          <a:solidFill>
            <a:srgbClr val="F59E0B">
              <a:alpha val="85000"/>
            </a:srgbClr>
          </a:solidFill>
          <a:ln/>
        </p:spPr>
      </p:sp>
      <p:sp>
        <p:nvSpPr>
          <p:cNvPr id="13" name="Text 9"/>
          <p:cNvSpPr/>
          <p:nvPr/>
        </p:nvSpPr>
        <p:spPr>
          <a:xfrm>
            <a:off x="1440180" y="2096037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Specialization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566160" y="210312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возможности специализировать код под конкретный call-site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67512" y="3003354"/>
            <a:ext cx="786384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0080" y="3017520"/>
            <a:ext cx="54864" cy="7315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Shape 13"/>
          <p:cNvSpPr/>
          <p:nvPr/>
        </p:nvSpPr>
        <p:spPr>
          <a:xfrm>
            <a:off x="868680" y="3154680"/>
            <a:ext cx="457200" cy="457200"/>
          </a:xfrm>
          <a:prstGeom prst="ellipse">
            <a:avLst/>
          </a:prstGeom>
          <a:solidFill>
            <a:srgbClr val="3B82F6">
              <a:alpha val="85000"/>
            </a:srgbClr>
          </a:solidFill>
          <a:ln/>
        </p:spPr>
      </p:sp>
      <p:sp>
        <p:nvSpPr>
          <p:cNvPr id="19" name="Text 14"/>
          <p:cNvSpPr/>
          <p:nvPr/>
        </p:nvSpPr>
        <p:spPr>
          <a:xfrm>
            <a:off x="1440180" y="301752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Branch Optimization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3566160" y="301752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Стабильные ветвления маскируются усреднённым профилем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640080" y="3931920"/>
            <a:ext cx="786384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40080" y="3931920"/>
            <a:ext cx="54864" cy="7315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3" name="Shape 18"/>
          <p:cNvSpPr/>
          <p:nvPr/>
        </p:nvSpPr>
        <p:spPr>
          <a:xfrm>
            <a:off x="868680" y="4069080"/>
            <a:ext cx="457200" cy="457200"/>
          </a:xfrm>
          <a:prstGeom prst="ellipse">
            <a:avLst/>
          </a:prstGeom>
          <a:solidFill>
            <a:srgbClr val="10B981">
              <a:alpha val="85000"/>
            </a:srgbClr>
          </a:solidFill>
          <a:ln/>
        </p:spPr>
      </p:sp>
      <p:sp>
        <p:nvSpPr>
          <p:cNvPr id="25" name="Text 19"/>
          <p:cNvSpPr/>
          <p:nvPr/>
        </p:nvSpPr>
        <p:spPr>
          <a:xfrm>
            <a:off x="1440180" y="3931920"/>
            <a:ext cx="20802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Производительность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3566160" y="393192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Итог: меньше выигрыш от JIT-компиляции в целом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8503920" y="46634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Идея решения: Context-Sensitive Profiling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0" y="1188720"/>
            <a:ext cx="914400" cy="914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371600" y="2286000"/>
            <a:ext cx="6400800" cy="2194560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371600" y="2286000"/>
            <a:ext cx="6400800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7" name="Shape 4"/>
          <p:cNvSpPr/>
          <p:nvPr/>
        </p:nvSpPr>
        <p:spPr>
          <a:xfrm>
            <a:off x="1645920" y="2560320"/>
            <a:ext cx="201168" cy="20116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8" name="Text 5"/>
          <p:cNvSpPr/>
          <p:nvPr/>
        </p:nvSpPr>
        <p:spPr>
          <a:xfrm>
            <a:off x="2011680" y="246888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Профиль зависит от call-site / caller chain / trace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1645920" y="3154680"/>
            <a:ext cx="201168" cy="20116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0" name="Text 7"/>
          <p:cNvSpPr/>
          <p:nvPr/>
        </p:nvSpPr>
        <p:spPr>
          <a:xfrm>
            <a:off x="2011680" y="306324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метод может иметь несколько профилей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1645920" y="3749040"/>
            <a:ext cx="201168" cy="20116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2" name="Text 9"/>
          <p:cNvSpPr/>
          <p:nvPr/>
        </p:nvSpPr>
        <p:spPr>
          <a:xfrm>
            <a:off x="2011680" y="365760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Компилятор получает точную информацию для каждого контекста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40080" y="45720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Центральная идея проекта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503920" y="46634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Обзор подходов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Разные runtime используют разные стратегии для учёта контекста выполнения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246888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463040"/>
            <a:ext cx="2468880" cy="8229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087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Inline Caches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0116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 / PIC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256032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Кэширование типов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уровне call-site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3749040"/>
            <a:ext cx="2103120" cy="3657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7490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V8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83280" y="1463040"/>
            <a:ext cx="246888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83280" y="1463040"/>
            <a:ext cx="2468880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3520440" y="15087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Trace-based JIT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520440" y="20116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566160" y="256032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Компиляция часто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исполняемых трасс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566160" y="3749040"/>
            <a:ext cx="2103120" cy="3657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7" name="Text 15"/>
          <p:cNvSpPr/>
          <p:nvPr/>
        </p:nvSpPr>
        <p:spPr>
          <a:xfrm>
            <a:off x="3566160" y="37490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LuaJIT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0" y="1463040"/>
            <a:ext cx="246888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26480" y="1463040"/>
            <a:ext cx="2468880" cy="8229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6263640" y="15087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Context-Sensitive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Profiling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63640" y="20116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309360" y="256032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Профиль привязан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 контексту вызова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309360" y="3749040"/>
            <a:ext cx="2103120" cy="3657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4" name="Text 22"/>
          <p:cNvSpPr/>
          <p:nvPr/>
        </p:nvSpPr>
        <p:spPr>
          <a:xfrm>
            <a:off x="6309360" y="37490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Graal, YJIT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" y="45720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подходы учитывают контекст выполнения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503920" y="46634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Подход 1: Inline Caches (IC / PIC)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4114800" cy="3200400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14400" y="1463040"/>
            <a:ext cx="182880" cy="1828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1234440" y="137160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каждом call-site запоминается тип объекта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14400" y="2148840"/>
            <a:ext cx="182880" cy="1828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1234440" y="205740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тип стабилен — быстрый специализированный путь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2834640"/>
            <a:ext cx="182880" cy="1828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1234440" y="274320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Polymorphic IC хранит несколько типов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14400" y="3520440"/>
            <a:ext cx="182880" cy="1828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1234440" y="342900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Даёт локальную контекстную информацию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0" y="1188720"/>
            <a:ext cx="3566160" cy="1371600"/>
          </a:xfrm>
          <a:prstGeom prst="rect">
            <a:avLst/>
          </a:prstGeom>
          <a:solidFill>
            <a:srgbClr val="132A1E">
              <a:alpha val="8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212080" y="1234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Плюсы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212080" y="15544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Простота реализации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Низкий overhead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0" y="2743200"/>
            <a:ext cx="3566160" cy="1371600"/>
          </a:xfrm>
          <a:prstGeom prst="rect">
            <a:avLst/>
          </a:prstGeom>
          <a:solidFill>
            <a:srgbClr val="2A1313">
              <a:alpha val="8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5212080" y="2788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Минусы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12080" y="310896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Ограничен одним call-site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видит caller chain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45720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Используется в </a:t>
            </a:r>
            <a:r>
              <a:rPr lang="en-US" sz="1200" i="1" dirty="0" smtClean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V8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503920" y="46634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pic>
        <p:nvPicPr>
          <p:cNvPr id="20" name="Рисунок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1951" y="4539316"/>
            <a:ext cx="398444" cy="39844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Подход 2: Trace-based JIT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411480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188720"/>
            <a:ext cx="54864" cy="3200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1463040"/>
            <a:ext cx="182880" cy="1828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1325880" y="13716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Компилируются не методы, а пути выполнения (трассы)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05840" y="2148840"/>
            <a:ext cx="182880" cy="1828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1325880" y="2057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Учитывается реальный execution flow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05840" y="2834640"/>
            <a:ext cx="182880" cy="1828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1325880" y="27432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Очень точный профиль за счёт привязки к трассе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005840" y="3520440"/>
            <a:ext cx="182880" cy="1828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1325880" y="34290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Трасса = конкретный путь через несколько методов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0" y="1188720"/>
            <a:ext cx="356616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29200" y="1188720"/>
            <a:ext cx="356616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5212080" y="1325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Плюсы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212080" y="164592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Максимальная точность профиля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Отличная оптимизация горячих путей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0" y="2743200"/>
            <a:ext cx="356616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029200" y="2743200"/>
            <a:ext cx="356616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9" name="Text 17"/>
          <p:cNvSpPr/>
          <p:nvPr/>
        </p:nvSpPr>
        <p:spPr>
          <a:xfrm>
            <a:off x="5212080" y="2880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Минусы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212080" y="320040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Сложность интеграции в method-based JIT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Высокий overhead при trace selection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45720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Используется в LuaJIT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503920" y="46634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pic>
        <p:nvPicPr>
          <p:cNvPr id="23" name="Picture 4" descr="Picture backgroun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8759" y="4514116"/>
            <a:ext cx="468721" cy="4687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Подход 3: Context-Sensitive Profiling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4114800" cy="3200400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188720"/>
            <a:ext cx="54864" cy="32004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1463040"/>
            <a:ext cx="182880" cy="1828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1325880" y="13716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Профиль привязывается к контексту вызова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005840" y="2148840"/>
            <a:ext cx="182880" cy="1828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1325880" y="2057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Возможен учёт caller chain (глубина настраивается)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005840" y="2834640"/>
            <a:ext cx="182880" cy="1828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1325880" y="27432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метод → несколько независимых профилей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05840" y="3520440"/>
            <a:ext cx="182880" cy="1828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1325880" y="34290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Прямое решение исходной проблемы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0" y="1188720"/>
            <a:ext cx="3566160" cy="1371600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212080" y="12801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Плюсы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212080" y="160020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Совместимость с method-based JIT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Точное разделение поведения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Управляемый overhead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0" y="2743200"/>
            <a:ext cx="3566160" cy="1371600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212080" y="28346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Минусы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212080" y="31546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Увеличение потребления памяти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Нужна эвристика ограничения контекстов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503920" y="46634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Применимость подходов к HotSpot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97280"/>
          <a:ext cx="7863840" cy="2514600"/>
        </p:xfrm>
        <a:graphic>
          <a:graphicData uri="http://schemas.openxmlformats.org/drawingml/2006/table">
            <a:tbl>
              <a:tblPr/>
              <a:tblGrid>
                <a:gridCol w="2011680"/>
                <a:gridCol w="1920240"/>
                <a:gridCol w="1920240"/>
                <a:gridCol w="2011680"/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Критерий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Inline Caches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Trace JIT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Context-Sensitive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Совместимость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Высокая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Низкая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Высокая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Сложность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Низкая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Очень высокая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Средняя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Точность профиля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Частичная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Максимальная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Высокая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Ожидаемый выигрыш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Ограниченный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Высокий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Умеренно-высокий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Реалистичность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Уже используется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Малореалистично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Баланс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640080" y="3749040"/>
            <a:ext cx="786384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640080" y="3749040"/>
            <a:ext cx="54864" cy="9144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3749040"/>
            <a:ext cx="7406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Context-sensitive profiling можно встроить в текущую систему profiling HotSpot,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расширив существующие структуры данных. Баланс между сложностью и выигрышем.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503920" y="46634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План дипломной работы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078992" y="1417320"/>
            <a:ext cx="36576" cy="320040"/>
          </a:xfrm>
          <a:prstGeom prst="rect">
            <a:avLst/>
          </a:prstGeom>
          <a:solidFill>
            <a:srgbClr val="3B82F6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005840"/>
            <a:ext cx="548640" cy="5486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005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645920" y="93268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Анализ profiling в HotSpot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45920" y="125272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Изучить сбор profile data и использование компилятором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78992" y="2194560"/>
            <a:ext cx="36576" cy="320040"/>
          </a:xfrm>
          <a:prstGeom prst="rect">
            <a:avLst/>
          </a:prstGeom>
          <a:solidFill>
            <a:srgbClr val="3B82F6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822960" y="1783080"/>
            <a:ext cx="548640" cy="5486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645920" y="170992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Архитектура прототипа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645920" y="202996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Выбрать модель контекста, формат хранения, ограничения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78992" y="2971800"/>
            <a:ext cx="36576" cy="320040"/>
          </a:xfrm>
          <a:prstGeom prst="rect">
            <a:avLst/>
          </a:prstGeom>
          <a:solidFill>
            <a:srgbClr val="3B82F6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2560320"/>
            <a:ext cx="548640" cy="5486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2560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645920" y="248716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Реализация прототипа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645920" y="280720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Расширить сбор данных, добавить контекстную привязку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078992" y="3749040"/>
            <a:ext cx="36576" cy="320040"/>
          </a:xfrm>
          <a:prstGeom prst="rect">
            <a:avLst/>
          </a:prstGeom>
          <a:solidFill>
            <a:srgbClr val="3B82F6">
              <a:alpha val="6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337560"/>
            <a:ext cx="548640" cy="5486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3337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645920" y="326440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Интеграция с компилятором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645920" y="358444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Контекстный профиль в heuristics: inlining, branches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22960" y="4114800"/>
            <a:ext cx="548640" cy="5486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4114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645920" y="404164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Эксперименты и оценка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645920" y="436168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Performance, memory overhead, микробенчмарки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0" y="5116068"/>
            <a:ext cx="9144000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8" name="Text 26"/>
          <p:cNvSpPr/>
          <p:nvPr/>
        </p:nvSpPr>
        <p:spPr>
          <a:xfrm>
            <a:off x="8503920" y="46634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Выводы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914400" y="1280160"/>
            <a:ext cx="7315200" cy="685800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1280160"/>
            <a:ext cx="54864" cy="68580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1435608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37360" y="1280160"/>
            <a:ext cx="6217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Per-method profiling ограничивает оптимизации JIT-компилятора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914400" y="2148840"/>
            <a:ext cx="7315200" cy="685800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2148840"/>
            <a:ext cx="54864" cy="68580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2304288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737360" y="2148840"/>
            <a:ext cx="6217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Контекст выполнения критически важен для JIT-компиляции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914400" y="3017520"/>
            <a:ext cx="7315200" cy="685800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914400" y="3017520"/>
            <a:ext cx="54864" cy="68580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8720" y="3172968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737360" y="3017520"/>
            <a:ext cx="6217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Context-sensitive profiling — реалистичное направление развития HotSpot</a:t>
            </a:r>
            <a:endParaRPr lang="en-US" sz="1500" dirty="0"/>
          </a:p>
        </p:txBody>
      </p:sp>
      <p:sp>
        <p:nvSpPr>
          <p:cNvPr id="17" name="Shape 12"/>
          <p:cNvSpPr/>
          <p:nvPr/>
        </p:nvSpPr>
        <p:spPr>
          <a:xfrm>
            <a:off x="914400" y="3886200"/>
            <a:ext cx="7315200" cy="685800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914400" y="3886200"/>
            <a:ext cx="54864" cy="685800"/>
          </a:xfrm>
          <a:prstGeom prst="rect">
            <a:avLst/>
          </a:prstGeom>
          <a:solidFill>
            <a:srgbClr val="22D3EE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8720" y="4041648"/>
            <a:ext cx="365760" cy="36576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737360" y="3886200"/>
            <a:ext cx="6217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500" dirty="0" smtClean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 </a:t>
            </a:r>
            <a:r>
              <a:rPr lang="en-US" sz="1500" dirty="0" err="1" smtClean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</a:t>
            </a:r>
            <a:r>
              <a:rPr lang="en-US" sz="1500" dirty="0" smtClean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дипломного </a:t>
            </a:r>
            <a:r>
              <a:rPr lang="en-US" sz="1500" dirty="0" err="1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проекта</a:t>
            </a: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640080" y="45720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Спасибо за внимание!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8503920" y="46634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678</Words>
  <Application>Microsoft Office PowerPoint</Application>
  <PresentationFormat>Экран (16:9)</PresentationFormat>
  <Paragraphs>209</Paragraphs>
  <Slides>14</Slides>
  <Notes>14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9" baseType="lpstr">
      <vt:lpstr>Arial</vt:lpstr>
      <vt:lpstr>Calibri</vt:lpstr>
      <vt:lpstr>Consolas</vt:lpstr>
      <vt:lpstr>Trebuchet MS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Context-Sensitive Profiling для OpenJDK HotSpot</dc:title>
  <dc:subject>PptxGenJS Presentation</dc:subject>
  <dc:creator>Максим Гудчиков</dc:creator>
  <cp:lastModifiedBy>Admin</cp:lastModifiedBy>
  <cp:revision>11</cp:revision>
  <dcterms:created xsi:type="dcterms:W3CDTF">2026-04-15T12:01:48Z</dcterms:created>
  <dcterms:modified xsi:type="dcterms:W3CDTF">2026-04-15T15:12:57Z</dcterms:modified>
</cp:coreProperties>
</file>